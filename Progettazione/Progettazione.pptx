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8" r:id="rId6"/>
    <p:sldId id="260" r:id="rId7"/>
    <p:sldId id="261" r:id="rId8"/>
    <p:sldId id="262" r:id="rId9"/>
    <p:sldId id="256" r:id="rId10"/>
    <p:sldId id="257" r:id="rId11"/>
    <p:sldId id="264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22539E-9057-4995-867F-916434121E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527AD9-0CFD-4C46-A243-B51CDD959E6C}">
      <dgm:prSet/>
      <dgm:spPr/>
      <dgm:t>
        <a:bodyPr/>
        <a:lstStyle/>
        <a:p>
          <a:r>
            <a:rPr lang="it-IT"/>
            <a:t>Per la simulazione del server Bluetooth abbiamo utilizzato l’app nRF Connect for mobile.</a:t>
          </a:r>
          <a:endParaRPr lang="en-US"/>
        </a:p>
      </dgm:t>
    </dgm:pt>
    <dgm:pt modelId="{0F5C87B8-CB2D-4D91-81AA-02F1528421BB}" type="parTrans" cxnId="{91A595E6-D90D-4594-B3E4-58B307FCB10C}">
      <dgm:prSet/>
      <dgm:spPr/>
      <dgm:t>
        <a:bodyPr/>
        <a:lstStyle/>
        <a:p>
          <a:endParaRPr lang="en-US"/>
        </a:p>
      </dgm:t>
    </dgm:pt>
    <dgm:pt modelId="{8C51486C-8135-4A84-BB43-3E79376D598B}" type="sibTrans" cxnId="{91A595E6-D90D-4594-B3E4-58B307FCB10C}">
      <dgm:prSet/>
      <dgm:spPr/>
      <dgm:t>
        <a:bodyPr/>
        <a:lstStyle/>
        <a:p>
          <a:endParaRPr lang="en-US"/>
        </a:p>
      </dgm:t>
    </dgm:pt>
    <dgm:pt modelId="{B5D46FD1-EF80-41DE-9035-B3DFE3C2039B}">
      <dgm:prSet/>
      <dgm:spPr/>
      <dgm:t>
        <a:bodyPr/>
        <a:lstStyle/>
        <a:p>
          <a:r>
            <a:rPr lang="it-IT"/>
            <a:t>Passaggi per l’uso:</a:t>
          </a:r>
          <a:endParaRPr lang="en-US"/>
        </a:p>
      </dgm:t>
    </dgm:pt>
    <dgm:pt modelId="{DF66A9D8-92EF-4EBF-A8E9-93800AFE6E14}" type="parTrans" cxnId="{A0BE2C96-60DB-425C-9114-9E1D55FE29D0}">
      <dgm:prSet/>
      <dgm:spPr/>
      <dgm:t>
        <a:bodyPr/>
        <a:lstStyle/>
        <a:p>
          <a:endParaRPr lang="en-US"/>
        </a:p>
      </dgm:t>
    </dgm:pt>
    <dgm:pt modelId="{255E984C-0CF1-429E-8580-368EBA3D003B}" type="sibTrans" cxnId="{A0BE2C96-60DB-425C-9114-9E1D55FE29D0}">
      <dgm:prSet/>
      <dgm:spPr/>
      <dgm:t>
        <a:bodyPr/>
        <a:lstStyle/>
        <a:p>
          <a:endParaRPr lang="en-US"/>
        </a:p>
      </dgm:t>
    </dgm:pt>
    <dgm:pt modelId="{7CF9054F-263A-4289-AC2D-0BDD77E04FD7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/>
            <a:t>Importare il file insulinometer.xml in allegato nella sezione </a:t>
          </a:r>
          <a:r>
            <a:rPr lang="it-IT" dirty="0" err="1"/>
            <a:t>Configure</a:t>
          </a:r>
          <a:r>
            <a:rPr lang="it-IT" dirty="0"/>
            <a:t> GATT Server</a:t>
          </a:r>
          <a:endParaRPr lang="en-US" dirty="0"/>
        </a:p>
      </dgm:t>
    </dgm:pt>
    <dgm:pt modelId="{C75745CC-9A8A-4F02-8A8B-506F6D4C2AA3}" type="parTrans" cxnId="{57DAEBD2-FE6F-42DE-9427-746AD24A9912}">
      <dgm:prSet/>
      <dgm:spPr/>
      <dgm:t>
        <a:bodyPr/>
        <a:lstStyle/>
        <a:p>
          <a:endParaRPr lang="en-US"/>
        </a:p>
      </dgm:t>
    </dgm:pt>
    <dgm:pt modelId="{515DDDA2-7A2C-41F7-92A4-125A954E5F38}" type="sibTrans" cxnId="{57DAEBD2-FE6F-42DE-9427-746AD24A9912}">
      <dgm:prSet/>
      <dgm:spPr/>
      <dgm:t>
        <a:bodyPr/>
        <a:lstStyle/>
        <a:p>
          <a:endParaRPr lang="en-US"/>
        </a:p>
      </dgm:t>
    </dgm:pt>
    <dgm:pt modelId="{0CC538AF-844A-4BD1-99A2-B9795404D8F0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/>
            <a:t>Creare un server nella sezione </a:t>
          </a:r>
          <a:r>
            <a:rPr lang="it-IT" dirty="0" err="1"/>
            <a:t>Advertiser</a:t>
          </a:r>
          <a:r>
            <a:rPr lang="it-IT" dirty="0"/>
            <a:t> (selezionare </a:t>
          </a:r>
          <a:r>
            <a:rPr lang="it-IT" dirty="0" err="1"/>
            <a:t>Connectable</a:t>
          </a:r>
          <a:r>
            <a:rPr lang="it-IT" dirty="0"/>
            <a:t>)</a:t>
          </a:r>
          <a:endParaRPr lang="en-US" dirty="0"/>
        </a:p>
      </dgm:t>
    </dgm:pt>
    <dgm:pt modelId="{1720C828-602A-4CE6-BB9E-6767A5FEB52B}" type="parTrans" cxnId="{5DE7CB86-1B43-4DBF-A2FA-A17386F450C0}">
      <dgm:prSet/>
      <dgm:spPr/>
      <dgm:t>
        <a:bodyPr/>
        <a:lstStyle/>
        <a:p>
          <a:endParaRPr lang="en-US"/>
        </a:p>
      </dgm:t>
    </dgm:pt>
    <dgm:pt modelId="{5B889F29-74CB-41CD-BCE1-B3953B3E8C4C}" type="sibTrans" cxnId="{5DE7CB86-1B43-4DBF-A2FA-A17386F450C0}">
      <dgm:prSet/>
      <dgm:spPr/>
      <dgm:t>
        <a:bodyPr/>
        <a:lstStyle/>
        <a:p>
          <a:endParaRPr lang="en-US"/>
        </a:p>
      </dgm:t>
    </dgm:pt>
    <dgm:pt modelId="{2163C138-675D-4F15-BDC7-FBED823F4242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/>
            <a:t>I valori inviati dal programma verranno visualizzati all’interno dei registri</a:t>
          </a:r>
          <a:endParaRPr lang="en-US" dirty="0"/>
        </a:p>
      </dgm:t>
    </dgm:pt>
    <dgm:pt modelId="{8D63D4C1-6B69-497B-8CB9-1B3583A2535D}" type="parTrans" cxnId="{7185B5C8-BB40-4EA2-A81C-E6CAD8910C90}">
      <dgm:prSet/>
      <dgm:spPr/>
      <dgm:t>
        <a:bodyPr/>
        <a:lstStyle/>
        <a:p>
          <a:endParaRPr lang="en-US"/>
        </a:p>
      </dgm:t>
    </dgm:pt>
    <dgm:pt modelId="{21ADE9F4-EFCA-4D77-86B6-D7767C74B575}" type="sibTrans" cxnId="{7185B5C8-BB40-4EA2-A81C-E6CAD8910C90}">
      <dgm:prSet/>
      <dgm:spPr/>
      <dgm:t>
        <a:bodyPr/>
        <a:lstStyle/>
        <a:p>
          <a:endParaRPr lang="en-US"/>
        </a:p>
      </dgm:t>
    </dgm:pt>
    <dgm:pt modelId="{03BF3B83-66A3-4F83-801D-128F0295DB15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/>
            <a:t>Per inviare i valori accedere al registro </a:t>
          </a:r>
          <a:r>
            <a:rPr lang="it-IT" dirty="0" err="1"/>
            <a:t>Impedance</a:t>
          </a:r>
          <a:r>
            <a:rPr lang="it-IT" dirty="0"/>
            <a:t> e inserirli col formato TEXT UTF-8 (i numeri complessi vanno inviati nel formato </a:t>
          </a:r>
          <a:r>
            <a:rPr lang="it-IT" dirty="0" err="1"/>
            <a:t>a+bj</a:t>
          </a:r>
          <a:r>
            <a:rPr lang="it-IT" dirty="0"/>
            <a:t>), selezionando Notification in Advanced</a:t>
          </a:r>
          <a:endParaRPr lang="en-US" dirty="0"/>
        </a:p>
      </dgm:t>
    </dgm:pt>
    <dgm:pt modelId="{27D2F8A1-B529-481C-B3C5-8B0F3AAE792B}" type="parTrans" cxnId="{75602A60-16B2-497A-8F78-DE34E265D7E7}">
      <dgm:prSet/>
      <dgm:spPr/>
      <dgm:t>
        <a:bodyPr/>
        <a:lstStyle/>
        <a:p>
          <a:endParaRPr lang="en-US"/>
        </a:p>
      </dgm:t>
    </dgm:pt>
    <dgm:pt modelId="{96B86A07-5BEB-40E2-B144-BD8ADFE6BD82}" type="sibTrans" cxnId="{75602A60-16B2-497A-8F78-DE34E265D7E7}">
      <dgm:prSet/>
      <dgm:spPr/>
      <dgm:t>
        <a:bodyPr/>
        <a:lstStyle/>
        <a:p>
          <a:endParaRPr lang="en-US"/>
        </a:p>
      </dgm:t>
    </dgm:pt>
    <dgm:pt modelId="{98EC2138-6243-4609-AF57-26D1B26F83B9}">
      <dgm:prSet/>
      <dgm:spPr/>
      <dgm:t>
        <a:bodyPr/>
        <a:lstStyle/>
        <a:p>
          <a:pPr>
            <a:buFont typeface="+mj-lt"/>
            <a:buAutoNum type="arabicPeriod"/>
          </a:pPr>
          <a:r>
            <a:rPr lang="it-IT" dirty="0"/>
            <a:t>I dati della modalità Single verranno visualizzati immediatamente, mentre quelli della modalità </a:t>
          </a:r>
          <a:r>
            <a:rPr lang="it-IT" dirty="0" err="1"/>
            <a:t>Sweep</a:t>
          </a:r>
          <a:r>
            <a:rPr lang="it-IT" dirty="0"/>
            <a:t> alla fine di un ciclo</a:t>
          </a:r>
          <a:endParaRPr lang="en-US" dirty="0"/>
        </a:p>
      </dgm:t>
    </dgm:pt>
    <dgm:pt modelId="{B3C50B6A-947B-40E7-A079-EC8F1C65C53A}" type="sibTrans" cxnId="{0E8D91D4-0B9F-43C1-92A5-4A9A085C5103}">
      <dgm:prSet/>
      <dgm:spPr/>
      <dgm:t>
        <a:bodyPr/>
        <a:lstStyle/>
        <a:p>
          <a:endParaRPr lang="en-US"/>
        </a:p>
      </dgm:t>
    </dgm:pt>
    <dgm:pt modelId="{E50C5DD1-7D73-4B0A-ABB3-B362F0FE0248}" type="parTrans" cxnId="{0E8D91D4-0B9F-43C1-92A5-4A9A085C5103}">
      <dgm:prSet/>
      <dgm:spPr/>
      <dgm:t>
        <a:bodyPr/>
        <a:lstStyle/>
        <a:p>
          <a:endParaRPr lang="en-US"/>
        </a:p>
      </dgm:t>
    </dgm:pt>
    <dgm:pt modelId="{FA2F3DEC-1D5E-4DE1-98CF-874EFFA5E12B}" type="pres">
      <dgm:prSet presAssocID="{0A22539E-9057-4995-867F-916434121EB9}" presName="linear" presStyleCnt="0">
        <dgm:presLayoutVars>
          <dgm:animLvl val="lvl"/>
          <dgm:resizeHandles val="exact"/>
        </dgm:presLayoutVars>
      </dgm:prSet>
      <dgm:spPr/>
    </dgm:pt>
    <dgm:pt modelId="{43ED6237-8399-4FC9-8838-B4032C3595E2}" type="pres">
      <dgm:prSet presAssocID="{53527AD9-0CFD-4C46-A243-B51CDD959E6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F10DCDE-A1AA-436E-BD39-AAB6E23C4C30}" type="pres">
      <dgm:prSet presAssocID="{8C51486C-8135-4A84-BB43-3E79376D598B}" presName="spacer" presStyleCnt="0"/>
      <dgm:spPr/>
    </dgm:pt>
    <dgm:pt modelId="{27758926-AD37-4A0D-A02B-BF6DFCB67959}" type="pres">
      <dgm:prSet presAssocID="{B5D46FD1-EF80-41DE-9035-B3DFE3C2039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853DA14-D4BA-44A3-A011-554803F882AF}" type="pres">
      <dgm:prSet presAssocID="{B5D46FD1-EF80-41DE-9035-B3DFE3C2039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9C59C03-4300-45A0-A065-F905F1EF2728}" type="presOf" srcId="{7CF9054F-263A-4289-AC2D-0BDD77E04FD7}" destId="{B853DA14-D4BA-44A3-A011-554803F882AF}" srcOrd="0" destOrd="0" presId="urn:microsoft.com/office/officeart/2005/8/layout/vList2"/>
    <dgm:cxn modelId="{6BCE4F32-0270-43F5-A4CC-36B2FB106C9B}" type="presOf" srcId="{03BF3B83-66A3-4F83-801D-128F0295DB15}" destId="{B853DA14-D4BA-44A3-A011-554803F882AF}" srcOrd="0" destOrd="3" presId="urn:microsoft.com/office/officeart/2005/8/layout/vList2"/>
    <dgm:cxn modelId="{D7D6033F-F396-4543-B65D-E4075A3F59CE}" type="presOf" srcId="{0A22539E-9057-4995-867F-916434121EB9}" destId="{FA2F3DEC-1D5E-4DE1-98CF-874EFFA5E12B}" srcOrd="0" destOrd="0" presId="urn:microsoft.com/office/officeart/2005/8/layout/vList2"/>
    <dgm:cxn modelId="{75602A60-16B2-497A-8F78-DE34E265D7E7}" srcId="{B5D46FD1-EF80-41DE-9035-B3DFE3C2039B}" destId="{03BF3B83-66A3-4F83-801D-128F0295DB15}" srcOrd="3" destOrd="0" parTransId="{27D2F8A1-B529-481C-B3C5-8B0F3AAE792B}" sibTransId="{96B86A07-5BEB-40E2-B144-BD8ADFE6BD82}"/>
    <dgm:cxn modelId="{E3ECA744-503C-46C3-9D43-33D81F6368E1}" type="presOf" srcId="{53527AD9-0CFD-4C46-A243-B51CDD959E6C}" destId="{43ED6237-8399-4FC9-8838-B4032C3595E2}" srcOrd="0" destOrd="0" presId="urn:microsoft.com/office/officeart/2005/8/layout/vList2"/>
    <dgm:cxn modelId="{D7462F46-9233-42F9-BB8D-C71BE6C643F9}" type="presOf" srcId="{2163C138-675D-4F15-BDC7-FBED823F4242}" destId="{B853DA14-D4BA-44A3-A011-554803F882AF}" srcOrd="0" destOrd="2" presId="urn:microsoft.com/office/officeart/2005/8/layout/vList2"/>
    <dgm:cxn modelId="{AA709C4C-EBB1-45F4-871A-F4FCA3212AEB}" type="presOf" srcId="{0CC538AF-844A-4BD1-99A2-B9795404D8F0}" destId="{B853DA14-D4BA-44A3-A011-554803F882AF}" srcOrd="0" destOrd="1" presId="urn:microsoft.com/office/officeart/2005/8/layout/vList2"/>
    <dgm:cxn modelId="{5DE7CB86-1B43-4DBF-A2FA-A17386F450C0}" srcId="{B5D46FD1-EF80-41DE-9035-B3DFE3C2039B}" destId="{0CC538AF-844A-4BD1-99A2-B9795404D8F0}" srcOrd="1" destOrd="0" parTransId="{1720C828-602A-4CE6-BB9E-6767A5FEB52B}" sibTransId="{5B889F29-74CB-41CD-BCE1-B3953B3E8C4C}"/>
    <dgm:cxn modelId="{A0BE2C96-60DB-425C-9114-9E1D55FE29D0}" srcId="{0A22539E-9057-4995-867F-916434121EB9}" destId="{B5D46FD1-EF80-41DE-9035-B3DFE3C2039B}" srcOrd="1" destOrd="0" parTransId="{DF66A9D8-92EF-4EBF-A8E9-93800AFE6E14}" sibTransId="{255E984C-0CF1-429E-8580-368EBA3D003B}"/>
    <dgm:cxn modelId="{4A591598-2BA1-4908-9D10-4DE65C6E855A}" type="presOf" srcId="{98EC2138-6243-4609-AF57-26D1B26F83B9}" destId="{B853DA14-D4BA-44A3-A011-554803F882AF}" srcOrd="0" destOrd="4" presId="urn:microsoft.com/office/officeart/2005/8/layout/vList2"/>
    <dgm:cxn modelId="{7185B5C8-BB40-4EA2-A81C-E6CAD8910C90}" srcId="{B5D46FD1-EF80-41DE-9035-B3DFE3C2039B}" destId="{2163C138-675D-4F15-BDC7-FBED823F4242}" srcOrd="2" destOrd="0" parTransId="{8D63D4C1-6B69-497B-8CB9-1B3583A2535D}" sibTransId="{21ADE9F4-EFCA-4D77-86B6-D7767C74B575}"/>
    <dgm:cxn modelId="{57DAEBD2-FE6F-42DE-9427-746AD24A9912}" srcId="{B5D46FD1-EF80-41DE-9035-B3DFE3C2039B}" destId="{7CF9054F-263A-4289-AC2D-0BDD77E04FD7}" srcOrd="0" destOrd="0" parTransId="{C75745CC-9A8A-4F02-8A8B-506F6D4C2AA3}" sibTransId="{515DDDA2-7A2C-41F7-92A4-125A954E5F38}"/>
    <dgm:cxn modelId="{0E8D91D4-0B9F-43C1-92A5-4A9A085C5103}" srcId="{B5D46FD1-EF80-41DE-9035-B3DFE3C2039B}" destId="{98EC2138-6243-4609-AF57-26D1B26F83B9}" srcOrd="4" destOrd="0" parTransId="{E50C5DD1-7D73-4B0A-ABB3-B362F0FE0248}" sibTransId="{B3C50B6A-947B-40E7-A079-EC8F1C65C53A}"/>
    <dgm:cxn modelId="{A6C349E1-33B4-4A93-A476-25BD235413CD}" type="presOf" srcId="{B5D46FD1-EF80-41DE-9035-B3DFE3C2039B}" destId="{27758926-AD37-4A0D-A02B-BF6DFCB67959}" srcOrd="0" destOrd="0" presId="urn:microsoft.com/office/officeart/2005/8/layout/vList2"/>
    <dgm:cxn modelId="{91A595E6-D90D-4594-B3E4-58B307FCB10C}" srcId="{0A22539E-9057-4995-867F-916434121EB9}" destId="{53527AD9-0CFD-4C46-A243-B51CDD959E6C}" srcOrd="0" destOrd="0" parTransId="{0F5C87B8-CB2D-4D91-81AA-02F1528421BB}" sibTransId="{8C51486C-8135-4A84-BB43-3E79376D598B}"/>
    <dgm:cxn modelId="{A0D9368E-404F-4624-86A8-3F96DF2CD845}" type="presParOf" srcId="{FA2F3DEC-1D5E-4DE1-98CF-874EFFA5E12B}" destId="{43ED6237-8399-4FC9-8838-B4032C3595E2}" srcOrd="0" destOrd="0" presId="urn:microsoft.com/office/officeart/2005/8/layout/vList2"/>
    <dgm:cxn modelId="{293AFF85-A428-4701-AB90-CF4D475962AE}" type="presParOf" srcId="{FA2F3DEC-1D5E-4DE1-98CF-874EFFA5E12B}" destId="{AF10DCDE-A1AA-436E-BD39-AAB6E23C4C30}" srcOrd="1" destOrd="0" presId="urn:microsoft.com/office/officeart/2005/8/layout/vList2"/>
    <dgm:cxn modelId="{CD25270E-C0EA-4B30-A73E-C7ACD8975A33}" type="presParOf" srcId="{FA2F3DEC-1D5E-4DE1-98CF-874EFFA5E12B}" destId="{27758926-AD37-4A0D-A02B-BF6DFCB67959}" srcOrd="2" destOrd="0" presId="urn:microsoft.com/office/officeart/2005/8/layout/vList2"/>
    <dgm:cxn modelId="{C3D3EC18-E63C-4A2B-BA07-646A2E9CB7AE}" type="presParOf" srcId="{FA2F3DEC-1D5E-4DE1-98CF-874EFFA5E12B}" destId="{B853DA14-D4BA-44A3-A011-554803F882A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22539E-9057-4995-867F-916434121E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D46FD1-EF80-41DE-9035-B3DFE3C2039B}">
      <dgm:prSet/>
      <dgm:spPr/>
      <dgm:t>
        <a:bodyPr/>
        <a:lstStyle/>
        <a:p>
          <a:r>
            <a:rPr lang="it-IT"/>
            <a:t>Passaggi per l’uso:</a:t>
          </a:r>
          <a:endParaRPr lang="en-US"/>
        </a:p>
      </dgm:t>
    </dgm:pt>
    <dgm:pt modelId="{DF66A9D8-92EF-4EBF-A8E9-93800AFE6E14}" type="parTrans" cxnId="{A0BE2C96-60DB-425C-9114-9E1D55FE29D0}">
      <dgm:prSet/>
      <dgm:spPr/>
      <dgm:t>
        <a:bodyPr/>
        <a:lstStyle/>
        <a:p>
          <a:endParaRPr lang="en-US"/>
        </a:p>
      </dgm:t>
    </dgm:pt>
    <dgm:pt modelId="{255E984C-0CF1-429E-8580-368EBA3D003B}" type="sibTrans" cxnId="{A0BE2C96-60DB-425C-9114-9E1D55FE29D0}">
      <dgm:prSet/>
      <dgm:spPr/>
      <dgm:t>
        <a:bodyPr/>
        <a:lstStyle/>
        <a:p>
          <a:endParaRPr lang="en-US"/>
        </a:p>
      </dgm:t>
    </dgm:pt>
    <dgm:pt modelId="{7CF9054F-263A-4289-AC2D-0BDD77E04FD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 </a:t>
          </a:r>
          <a:r>
            <a:rPr lang="en-US" dirty="0" err="1"/>
            <a:t>Caricare</a:t>
          </a:r>
          <a:r>
            <a:rPr lang="en-US" dirty="0"/>
            <a:t> il file .</a:t>
          </a:r>
          <a:r>
            <a:rPr lang="en-US" dirty="0" err="1"/>
            <a:t>ino</a:t>
          </a:r>
          <a:r>
            <a:rPr lang="en-US" dirty="0"/>
            <a:t> </a:t>
          </a:r>
          <a:r>
            <a:rPr lang="en-US" dirty="0" err="1"/>
            <a:t>nella</a:t>
          </a:r>
          <a:r>
            <a:rPr lang="en-US" dirty="0"/>
            <a:t> board</a:t>
          </a:r>
        </a:p>
      </dgm:t>
    </dgm:pt>
    <dgm:pt modelId="{C75745CC-9A8A-4F02-8A8B-506F6D4C2AA3}" type="parTrans" cxnId="{57DAEBD2-FE6F-42DE-9427-746AD24A9912}">
      <dgm:prSet/>
      <dgm:spPr/>
      <dgm:t>
        <a:bodyPr/>
        <a:lstStyle/>
        <a:p>
          <a:endParaRPr lang="en-US"/>
        </a:p>
      </dgm:t>
    </dgm:pt>
    <dgm:pt modelId="{515DDDA2-7A2C-41F7-92A4-125A954E5F38}" type="sibTrans" cxnId="{57DAEBD2-FE6F-42DE-9427-746AD24A9912}">
      <dgm:prSet/>
      <dgm:spPr/>
      <dgm:t>
        <a:bodyPr/>
        <a:lstStyle/>
        <a:p>
          <a:endParaRPr lang="en-US"/>
        </a:p>
      </dgm:t>
    </dgm:pt>
    <dgm:pt modelId="{B7A4D283-ACF3-4BFE-9A68-4D1044CFE4A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 Avviare il file InterfacciaESP.py</a:t>
          </a:r>
        </a:p>
      </dgm:t>
    </dgm:pt>
    <dgm:pt modelId="{41B9A9AB-5BCA-48A0-93BC-499D62A3C3BD}" type="parTrans" cxnId="{67E2B800-A67F-4EDA-A8F1-AD1332C12B5E}">
      <dgm:prSet/>
      <dgm:spPr/>
      <dgm:t>
        <a:bodyPr/>
        <a:lstStyle/>
        <a:p>
          <a:endParaRPr lang="it-IT"/>
        </a:p>
      </dgm:t>
    </dgm:pt>
    <dgm:pt modelId="{3E8435F2-03CA-4FDD-B652-48EC04F8F854}" type="sibTrans" cxnId="{67E2B800-A67F-4EDA-A8F1-AD1332C12B5E}">
      <dgm:prSet/>
      <dgm:spPr/>
      <dgm:t>
        <a:bodyPr/>
        <a:lstStyle/>
        <a:p>
          <a:endParaRPr lang="it-IT"/>
        </a:p>
      </dgm:t>
    </dgm:pt>
    <dgm:pt modelId="{794EF0F8-2292-4492-AAA6-85A0922CAF8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 </a:t>
          </a:r>
          <a:r>
            <a:rPr lang="en-US" dirty="0" err="1"/>
            <a:t>Selezionare</a:t>
          </a:r>
          <a:r>
            <a:rPr lang="en-US" dirty="0"/>
            <a:t> Bluetooth e </a:t>
          </a:r>
          <a:r>
            <a:rPr lang="en-US" dirty="0" err="1"/>
            <a:t>collegarsi</a:t>
          </a:r>
          <a:r>
            <a:rPr lang="en-US" dirty="0"/>
            <a:t> </a:t>
          </a:r>
          <a:r>
            <a:rPr lang="en-US" dirty="0" err="1"/>
            <a:t>alla</a:t>
          </a:r>
          <a:r>
            <a:rPr lang="en-US" dirty="0"/>
            <a:t> board</a:t>
          </a:r>
        </a:p>
      </dgm:t>
    </dgm:pt>
    <dgm:pt modelId="{307975C5-32EA-4F23-B2D7-9BDBCDCC566A}" type="parTrans" cxnId="{D33995D0-6536-4F25-8372-035D492F3903}">
      <dgm:prSet/>
      <dgm:spPr/>
      <dgm:t>
        <a:bodyPr/>
        <a:lstStyle/>
        <a:p>
          <a:endParaRPr lang="it-IT"/>
        </a:p>
      </dgm:t>
    </dgm:pt>
    <dgm:pt modelId="{DC56B360-154B-4C98-975F-ED8635B9AFDD}" type="sibTrans" cxnId="{D33995D0-6536-4F25-8372-035D492F3903}">
      <dgm:prSet/>
      <dgm:spPr/>
      <dgm:t>
        <a:bodyPr/>
        <a:lstStyle/>
        <a:p>
          <a:endParaRPr lang="it-IT"/>
        </a:p>
      </dgm:t>
    </dgm:pt>
    <dgm:pt modelId="{5BC76B01-42B4-467B-B32C-52C57997988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 Ad </a:t>
          </a:r>
          <a:r>
            <a:rPr lang="en-US" dirty="0" err="1"/>
            <a:t>ogni</a:t>
          </a:r>
          <a:r>
            <a:rPr lang="en-US" dirty="0"/>
            <a:t> </a:t>
          </a:r>
          <a:r>
            <a:rPr lang="en-US" dirty="0" err="1"/>
            <a:t>pressione</a:t>
          </a:r>
          <a:r>
            <a:rPr lang="en-US" dirty="0"/>
            <a:t> del tasto Start il led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accenderà</a:t>
          </a:r>
          <a:r>
            <a:rPr lang="en-US" dirty="0"/>
            <a:t>/</a:t>
          </a:r>
          <a:r>
            <a:rPr lang="en-US" dirty="0" err="1"/>
            <a:t>spegnerà</a:t>
          </a:r>
          <a:endParaRPr lang="en-US" dirty="0"/>
        </a:p>
      </dgm:t>
    </dgm:pt>
    <dgm:pt modelId="{018E3F7A-2633-4605-832E-20F18214925B}" type="parTrans" cxnId="{6E94E793-9F41-4669-9B7D-D67AF3F38243}">
      <dgm:prSet/>
      <dgm:spPr/>
      <dgm:t>
        <a:bodyPr/>
        <a:lstStyle/>
        <a:p>
          <a:endParaRPr lang="it-IT"/>
        </a:p>
      </dgm:t>
    </dgm:pt>
    <dgm:pt modelId="{F0C00CD3-71BE-43CA-98DC-2F97B0FDDD9D}" type="sibTrans" cxnId="{6E94E793-9F41-4669-9B7D-D67AF3F38243}">
      <dgm:prSet/>
      <dgm:spPr/>
      <dgm:t>
        <a:bodyPr/>
        <a:lstStyle/>
        <a:p>
          <a:endParaRPr lang="it-IT"/>
        </a:p>
      </dgm:t>
    </dgm:pt>
    <dgm:pt modelId="{FA2F3DEC-1D5E-4DE1-98CF-874EFFA5E12B}" type="pres">
      <dgm:prSet presAssocID="{0A22539E-9057-4995-867F-916434121EB9}" presName="linear" presStyleCnt="0">
        <dgm:presLayoutVars>
          <dgm:animLvl val="lvl"/>
          <dgm:resizeHandles val="exact"/>
        </dgm:presLayoutVars>
      </dgm:prSet>
      <dgm:spPr/>
    </dgm:pt>
    <dgm:pt modelId="{27758926-AD37-4A0D-A02B-BF6DFCB67959}" type="pres">
      <dgm:prSet presAssocID="{B5D46FD1-EF80-41DE-9035-B3DFE3C2039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853DA14-D4BA-44A3-A011-554803F882AF}" type="pres">
      <dgm:prSet presAssocID="{B5D46FD1-EF80-41DE-9035-B3DFE3C2039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7E2B800-A67F-4EDA-A8F1-AD1332C12B5E}" srcId="{B5D46FD1-EF80-41DE-9035-B3DFE3C2039B}" destId="{B7A4D283-ACF3-4BFE-9A68-4D1044CFE4AC}" srcOrd="1" destOrd="0" parTransId="{41B9A9AB-5BCA-48A0-93BC-499D62A3C3BD}" sibTransId="{3E8435F2-03CA-4FDD-B652-48EC04F8F854}"/>
    <dgm:cxn modelId="{D4AECB00-B7E0-4077-9826-FF833F15F657}" type="presOf" srcId="{794EF0F8-2292-4492-AAA6-85A0922CAF87}" destId="{B853DA14-D4BA-44A3-A011-554803F882AF}" srcOrd="0" destOrd="2" presId="urn:microsoft.com/office/officeart/2005/8/layout/vList2"/>
    <dgm:cxn modelId="{79C59C03-4300-45A0-A065-F905F1EF2728}" type="presOf" srcId="{7CF9054F-263A-4289-AC2D-0BDD77E04FD7}" destId="{B853DA14-D4BA-44A3-A011-554803F882AF}" srcOrd="0" destOrd="0" presId="urn:microsoft.com/office/officeart/2005/8/layout/vList2"/>
    <dgm:cxn modelId="{39A2803A-7E42-4335-AB76-BDF6DB3E9D6F}" type="presOf" srcId="{5BC76B01-42B4-467B-B32C-52C57997988A}" destId="{B853DA14-D4BA-44A3-A011-554803F882AF}" srcOrd="0" destOrd="3" presId="urn:microsoft.com/office/officeart/2005/8/layout/vList2"/>
    <dgm:cxn modelId="{D7D6033F-F396-4543-B65D-E4075A3F59CE}" type="presOf" srcId="{0A22539E-9057-4995-867F-916434121EB9}" destId="{FA2F3DEC-1D5E-4DE1-98CF-874EFFA5E12B}" srcOrd="0" destOrd="0" presId="urn:microsoft.com/office/officeart/2005/8/layout/vList2"/>
    <dgm:cxn modelId="{7F866F93-6DCD-41BA-9CDA-3DCD8A8DBABB}" type="presOf" srcId="{B7A4D283-ACF3-4BFE-9A68-4D1044CFE4AC}" destId="{B853DA14-D4BA-44A3-A011-554803F882AF}" srcOrd="0" destOrd="1" presId="urn:microsoft.com/office/officeart/2005/8/layout/vList2"/>
    <dgm:cxn modelId="{6E94E793-9F41-4669-9B7D-D67AF3F38243}" srcId="{B5D46FD1-EF80-41DE-9035-B3DFE3C2039B}" destId="{5BC76B01-42B4-467B-B32C-52C57997988A}" srcOrd="3" destOrd="0" parTransId="{018E3F7A-2633-4605-832E-20F18214925B}" sibTransId="{F0C00CD3-71BE-43CA-98DC-2F97B0FDDD9D}"/>
    <dgm:cxn modelId="{A0BE2C96-60DB-425C-9114-9E1D55FE29D0}" srcId="{0A22539E-9057-4995-867F-916434121EB9}" destId="{B5D46FD1-EF80-41DE-9035-B3DFE3C2039B}" srcOrd="0" destOrd="0" parTransId="{DF66A9D8-92EF-4EBF-A8E9-93800AFE6E14}" sibTransId="{255E984C-0CF1-429E-8580-368EBA3D003B}"/>
    <dgm:cxn modelId="{D33995D0-6536-4F25-8372-035D492F3903}" srcId="{B5D46FD1-EF80-41DE-9035-B3DFE3C2039B}" destId="{794EF0F8-2292-4492-AAA6-85A0922CAF87}" srcOrd="2" destOrd="0" parTransId="{307975C5-32EA-4F23-B2D7-9BDBCDCC566A}" sibTransId="{DC56B360-154B-4C98-975F-ED8635B9AFDD}"/>
    <dgm:cxn modelId="{57DAEBD2-FE6F-42DE-9427-746AD24A9912}" srcId="{B5D46FD1-EF80-41DE-9035-B3DFE3C2039B}" destId="{7CF9054F-263A-4289-AC2D-0BDD77E04FD7}" srcOrd="0" destOrd="0" parTransId="{C75745CC-9A8A-4F02-8A8B-506F6D4C2AA3}" sibTransId="{515DDDA2-7A2C-41F7-92A4-125A954E5F38}"/>
    <dgm:cxn modelId="{A6C349E1-33B4-4A93-A476-25BD235413CD}" type="presOf" srcId="{B5D46FD1-EF80-41DE-9035-B3DFE3C2039B}" destId="{27758926-AD37-4A0D-A02B-BF6DFCB67959}" srcOrd="0" destOrd="0" presId="urn:microsoft.com/office/officeart/2005/8/layout/vList2"/>
    <dgm:cxn modelId="{CD25270E-C0EA-4B30-A73E-C7ACD8975A33}" type="presParOf" srcId="{FA2F3DEC-1D5E-4DE1-98CF-874EFFA5E12B}" destId="{27758926-AD37-4A0D-A02B-BF6DFCB67959}" srcOrd="0" destOrd="0" presId="urn:microsoft.com/office/officeart/2005/8/layout/vList2"/>
    <dgm:cxn modelId="{C3D3EC18-E63C-4A2B-BA07-646A2E9CB7AE}" type="presParOf" srcId="{FA2F3DEC-1D5E-4DE1-98CF-874EFFA5E12B}" destId="{B853DA14-D4BA-44A3-A011-554803F882A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ED6237-8399-4FC9-8838-B4032C3595E2}">
      <dsp:nvSpPr>
        <dsp:cNvPr id="0" name=""/>
        <dsp:cNvSpPr/>
      </dsp:nvSpPr>
      <dsp:spPr>
        <a:xfrm>
          <a:off x="0" y="161890"/>
          <a:ext cx="9006422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Per la simulazione del server Bluetooth abbiamo utilizzato l’app nRF Connect for mobile.</a:t>
          </a:r>
          <a:endParaRPr lang="en-US" sz="1800" kern="1200"/>
        </a:p>
      </dsp:txBody>
      <dsp:txXfrm>
        <a:off x="21589" y="183479"/>
        <a:ext cx="8963244" cy="399082"/>
      </dsp:txXfrm>
    </dsp:sp>
    <dsp:sp modelId="{27758926-AD37-4A0D-A02B-BF6DFCB67959}">
      <dsp:nvSpPr>
        <dsp:cNvPr id="0" name=""/>
        <dsp:cNvSpPr/>
      </dsp:nvSpPr>
      <dsp:spPr>
        <a:xfrm>
          <a:off x="0" y="655990"/>
          <a:ext cx="9006422" cy="442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Passaggi per l’uso:</a:t>
          </a:r>
          <a:endParaRPr lang="en-US" sz="1800" kern="1200"/>
        </a:p>
      </dsp:txBody>
      <dsp:txXfrm>
        <a:off x="21589" y="677579"/>
        <a:ext cx="8963244" cy="399082"/>
      </dsp:txXfrm>
    </dsp:sp>
    <dsp:sp modelId="{B853DA14-D4BA-44A3-A011-554803F882AF}">
      <dsp:nvSpPr>
        <dsp:cNvPr id="0" name=""/>
        <dsp:cNvSpPr/>
      </dsp:nvSpPr>
      <dsp:spPr>
        <a:xfrm>
          <a:off x="0" y="1098250"/>
          <a:ext cx="9006422" cy="1602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954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it-IT" sz="1400" kern="1200" dirty="0"/>
            <a:t>Importare il file insulinometer.xml in allegato nella sezione </a:t>
          </a:r>
          <a:r>
            <a:rPr lang="it-IT" sz="1400" kern="1200" dirty="0" err="1"/>
            <a:t>Configure</a:t>
          </a:r>
          <a:r>
            <a:rPr lang="it-IT" sz="1400" kern="1200" dirty="0"/>
            <a:t> GATT Server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it-IT" sz="1400" kern="1200" dirty="0"/>
            <a:t>Creare un server nella sezione </a:t>
          </a:r>
          <a:r>
            <a:rPr lang="it-IT" sz="1400" kern="1200" dirty="0" err="1"/>
            <a:t>Advertiser</a:t>
          </a:r>
          <a:r>
            <a:rPr lang="it-IT" sz="1400" kern="1200" dirty="0"/>
            <a:t> (selezionare </a:t>
          </a:r>
          <a:r>
            <a:rPr lang="it-IT" sz="1400" kern="1200" dirty="0" err="1"/>
            <a:t>Connectable</a:t>
          </a:r>
          <a:r>
            <a:rPr lang="it-IT" sz="1400" kern="1200" dirty="0"/>
            <a:t>)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it-IT" sz="1400" kern="1200" dirty="0"/>
            <a:t>I valori inviati dal programma verranno visualizzati all’interno dei registri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it-IT" sz="1400" kern="1200" dirty="0"/>
            <a:t>Per inviare i valori accedere al registro </a:t>
          </a:r>
          <a:r>
            <a:rPr lang="it-IT" sz="1400" kern="1200" dirty="0" err="1"/>
            <a:t>Impedance</a:t>
          </a:r>
          <a:r>
            <a:rPr lang="it-IT" sz="1400" kern="1200" dirty="0"/>
            <a:t> e inserirli col formato TEXT UTF-8 (i numeri complessi vanno inviati nel formato </a:t>
          </a:r>
          <a:r>
            <a:rPr lang="it-IT" sz="1400" kern="1200" dirty="0" err="1"/>
            <a:t>a+bj</a:t>
          </a:r>
          <a:r>
            <a:rPr lang="it-IT" sz="1400" kern="1200" dirty="0"/>
            <a:t>), selezionando Notification in Advanced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it-IT" sz="1400" kern="1200" dirty="0"/>
            <a:t>I dati della modalità Single verranno visualizzati immediatamente, mentre quelli della modalità </a:t>
          </a:r>
          <a:r>
            <a:rPr lang="it-IT" sz="1400" kern="1200" dirty="0" err="1"/>
            <a:t>Sweep</a:t>
          </a:r>
          <a:r>
            <a:rPr lang="it-IT" sz="1400" kern="1200" dirty="0"/>
            <a:t> alla fine di un ciclo</a:t>
          </a:r>
          <a:endParaRPr lang="en-US" sz="1400" kern="1200" dirty="0"/>
        </a:p>
      </dsp:txBody>
      <dsp:txXfrm>
        <a:off x="0" y="1098250"/>
        <a:ext cx="9006422" cy="1602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58926-AD37-4A0D-A02B-BF6DFCB67959}">
      <dsp:nvSpPr>
        <dsp:cNvPr id="0" name=""/>
        <dsp:cNvSpPr/>
      </dsp:nvSpPr>
      <dsp:spPr>
        <a:xfrm>
          <a:off x="0" y="216115"/>
          <a:ext cx="9006422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100" kern="1200"/>
            <a:t>Passaggi per l’uso:</a:t>
          </a:r>
          <a:endParaRPr lang="en-US" sz="3100" kern="1200"/>
        </a:p>
      </dsp:txBody>
      <dsp:txXfrm>
        <a:off x="37182" y="253297"/>
        <a:ext cx="8932058" cy="687306"/>
      </dsp:txXfrm>
    </dsp:sp>
    <dsp:sp modelId="{B853DA14-D4BA-44A3-A011-554803F882AF}">
      <dsp:nvSpPr>
        <dsp:cNvPr id="0" name=""/>
        <dsp:cNvSpPr/>
      </dsp:nvSpPr>
      <dsp:spPr>
        <a:xfrm>
          <a:off x="0" y="977785"/>
          <a:ext cx="9006422" cy="1668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95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400" kern="1200" dirty="0"/>
            <a:t> </a:t>
          </a:r>
          <a:r>
            <a:rPr lang="en-US" sz="2400" kern="1200" dirty="0" err="1"/>
            <a:t>Caricare</a:t>
          </a:r>
          <a:r>
            <a:rPr lang="en-US" sz="2400" kern="1200" dirty="0"/>
            <a:t> il file .</a:t>
          </a:r>
          <a:r>
            <a:rPr lang="en-US" sz="2400" kern="1200" dirty="0" err="1"/>
            <a:t>ino</a:t>
          </a:r>
          <a:r>
            <a:rPr lang="en-US" sz="2400" kern="1200" dirty="0"/>
            <a:t> </a:t>
          </a:r>
          <a:r>
            <a:rPr lang="en-US" sz="2400" kern="1200" dirty="0" err="1"/>
            <a:t>nella</a:t>
          </a:r>
          <a:r>
            <a:rPr lang="en-US" sz="2400" kern="1200" dirty="0"/>
            <a:t> board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400" kern="1200" dirty="0"/>
            <a:t> Avviare il file InterfacciaESP.py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400" kern="1200" dirty="0"/>
            <a:t> </a:t>
          </a:r>
          <a:r>
            <a:rPr lang="en-US" sz="2400" kern="1200" dirty="0" err="1"/>
            <a:t>Selezionare</a:t>
          </a:r>
          <a:r>
            <a:rPr lang="en-US" sz="2400" kern="1200" dirty="0"/>
            <a:t> Bluetooth e </a:t>
          </a:r>
          <a:r>
            <a:rPr lang="en-US" sz="2400" kern="1200" dirty="0" err="1"/>
            <a:t>collegarsi</a:t>
          </a:r>
          <a:r>
            <a:rPr lang="en-US" sz="2400" kern="1200" dirty="0"/>
            <a:t> </a:t>
          </a:r>
          <a:r>
            <a:rPr lang="en-US" sz="2400" kern="1200" dirty="0" err="1"/>
            <a:t>alla</a:t>
          </a:r>
          <a:r>
            <a:rPr lang="en-US" sz="2400" kern="1200" dirty="0"/>
            <a:t> board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2400" kern="1200" dirty="0"/>
            <a:t> Ad </a:t>
          </a:r>
          <a:r>
            <a:rPr lang="en-US" sz="2400" kern="1200" dirty="0" err="1"/>
            <a:t>ogni</a:t>
          </a:r>
          <a:r>
            <a:rPr lang="en-US" sz="2400" kern="1200" dirty="0"/>
            <a:t> </a:t>
          </a:r>
          <a:r>
            <a:rPr lang="en-US" sz="2400" kern="1200" dirty="0" err="1"/>
            <a:t>pressione</a:t>
          </a:r>
          <a:r>
            <a:rPr lang="en-US" sz="2400" kern="1200" dirty="0"/>
            <a:t> del tasto Start il led </a:t>
          </a:r>
          <a:r>
            <a:rPr lang="en-US" sz="2400" kern="1200" dirty="0" err="1"/>
            <a:t>si</a:t>
          </a:r>
          <a:r>
            <a:rPr lang="en-US" sz="2400" kern="1200" dirty="0"/>
            <a:t> </a:t>
          </a:r>
          <a:r>
            <a:rPr lang="en-US" sz="2400" kern="1200" dirty="0" err="1"/>
            <a:t>accenderà</a:t>
          </a:r>
          <a:r>
            <a:rPr lang="en-US" sz="2400" kern="1200" dirty="0"/>
            <a:t>/</a:t>
          </a:r>
          <a:r>
            <a:rPr lang="en-US" sz="2400" kern="1200" dirty="0" err="1"/>
            <a:t>spegnerà</a:t>
          </a:r>
          <a:endParaRPr lang="en-US" sz="2400" kern="1200" dirty="0"/>
        </a:p>
      </dsp:txBody>
      <dsp:txXfrm>
        <a:off x="0" y="977785"/>
        <a:ext cx="9006422" cy="1668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56BACB-7910-DE33-6E2D-9423CF73F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C2892A-272F-AD89-2D17-FE8EF0C31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2AA324-77A8-9414-B894-E3C4EBD0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726D1E-0EE5-1F38-2031-FC6BF9BA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FA23AE-A5FA-C649-DCDA-FC1A9714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68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E9653A-AC40-A4CA-10D6-8E3959E6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D24847-681F-CC98-EF6E-9DA88408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A86629-C446-157D-93BE-03860B436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A3C774-3F05-9C5D-EAF0-E4B58A86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99EE96-26BE-851C-AEB0-83F29E1C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591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CEBD4-A2EF-17C8-97C1-5D978B28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C4FB1F-7B8C-2492-EB84-AE34C1FB6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E5F06E-0B37-706D-867F-A8D9A4E3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4EAC3C-2CD1-0DE5-E50F-6C6E66F3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32915E-86F7-2030-6D8F-AA9CEBD4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41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2D7C45-AC86-CCE0-0F9C-A378EF85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E195AD-7522-1EE2-13C8-E9BB9C105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74EBD66-2A66-2FBC-F5E6-C3F89CFD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F98326-6EED-0D2C-8754-EA330954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C8AA9C2-A42C-D053-18F1-9C2B98F3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50A86A-DC04-B84A-1CA5-459BD792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82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3CFA30-A6A4-215B-F414-AAF0370B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7FFFE3-68AB-ABC3-7EC4-CBC61DF53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2995A5-D464-504E-F9E5-38DC4FA2F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5F3355-612F-CB78-E6B1-2507C6416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753CFD-8D8A-0388-CFAB-D937C76FE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2C9234-2EBA-5A03-FC7F-BB2F835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D221FC0-29B5-079E-6F17-0DDFA79A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026DE0C-14D1-EB65-F4BD-020232AC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099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1A8FCF-3E0E-FFFB-CF98-DEEC2AD8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96528ED-18DE-854E-EE00-11367394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CC2A8F4-0671-59C2-0A2A-36DF48EF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FAA715-6D8C-E0F6-694B-44F96104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80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63D2801-80F1-1810-EB2D-81B77BB6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5D7DB93-9589-8CC0-8DC2-B22CF6B0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982418-9449-9544-51E4-D2ABC505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675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3D07C-535A-7ED0-26D7-E3466423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456383-ACB3-6ACE-9AEF-C7F547BE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E51A187-1EA1-2242-38DE-FFE57C890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B5F5EAC-B2A7-E5DC-4863-2AA7973A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9535AA-9258-842E-DF13-789E33B4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56A1D86-B4E8-828C-4484-9B99C536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59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F314B4-8055-DAA9-FDDE-498760D3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416B6B-19E7-AD86-C592-0400D16E2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7E22E9-6967-C58B-31E3-79BF57C7A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31F3891-D792-2CD0-2D4F-13D5590E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C75F4E0-304E-A5AA-1F38-9781EEF5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5E6E69D-75D6-00A1-8C00-1A131DED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925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2AF1D4-DFD9-A734-6F14-2D0EF6F8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8A68BE6-F3B5-0475-4EEE-D2E80BB1F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DF698A-0592-B306-A693-7AE3F01D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485B41-24C2-D575-7E78-E9959F0E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EEA59F-3E85-BB66-490F-AAA4EE18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153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8C08DD3-FBC0-C91A-B860-8E744D5E8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095F14-BC48-22E3-98B0-A7B20C5FF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814AFB-1767-955D-4A1B-2C626998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C9B605-36B2-3670-539D-6822714B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D54A56-D228-CC6E-13DD-162BDAF6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887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B722C2F-BAE4-2C0C-CBC4-D82C8E2C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10E037-1C7D-2FBE-F842-EB7339AD9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DF6F10-1887-F564-553B-E5A55F313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6AC40-AFBA-428B-A2F5-AC7F7D634481}" type="datetimeFigureOut">
              <a:rPr lang="it-IT" smtClean="0"/>
              <a:t>28/04/2026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5174C5-7F36-BA8D-027F-17C387B7B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1B1190-9CDF-FCDC-4BAB-3C8D01915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EEFAD-FED0-47C6-87A9-242A8C7AE3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54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B525F3-4AFD-C821-B9F7-19F08CA3135B}"/>
              </a:ext>
            </a:extLst>
          </p:cNvPr>
          <p:cNvSpPr txBox="1"/>
          <p:nvPr/>
        </p:nvSpPr>
        <p:spPr>
          <a:xfrm>
            <a:off x="3400424" y="133350"/>
            <a:ext cx="5391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Mockup</a:t>
            </a:r>
          </a:p>
        </p:txBody>
      </p:sp>
      <p:pic>
        <p:nvPicPr>
          <p:cNvPr id="7" name="Immagine 6" descr="Immagine che contiene testo, schermata, diagramma, numero">
            <a:extLst>
              <a:ext uri="{FF2B5EF4-FFF2-40B4-BE49-F238E27FC236}">
                <a16:creationId xmlns:a16="http://schemas.microsoft.com/office/drawing/2014/main" id="{40AD0BBB-DEA9-6595-C54D-DE96DB0A0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940" y="635964"/>
            <a:ext cx="9368118" cy="593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3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3F4BDD-5C21-C836-CD49-24761FD33C3E}"/>
              </a:ext>
            </a:extLst>
          </p:cNvPr>
          <p:cNvSpPr txBox="1"/>
          <p:nvPr/>
        </p:nvSpPr>
        <p:spPr>
          <a:xfrm>
            <a:off x="9819375" y="197346"/>
            <a:ext cx="22107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Legenda</a:t>
            </a:r>
            <a:endParaRPr lang="it-I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it-IT" dirty="0"/>
          </a:p>
          <a:p>
            <a:r>
              <a:rPr lang="it-IT" dirty="0">
                <a:solidFill>
                  <a:srgbClr val="FFFF00"/>
                </a:solidFill>
              </a:rPr>
              <a:t>Giallo</a:t>
            </a:r>
            <a:r>
              <a:rPr lang="it-IT" dirty="0"/>
              <a:t>: grafici</a:t>
            </a:r>
          </a:p>
          <a:p>
            <a:endParaRPr lang="it-IT" dirty="0"/>
          </a:p>
          <a:p>
            <a:r>
              <a:rPr lang="it-IT" dirty="0">
                <a:solidFill>
                  <a:srgbClr val="FF0000"/>
                </a:solidFill>
              </a:rPr>
              <a:t>Rosso</a:t>
            </a:r>
            <a:r>
              <a:rPr lang="it-IT" dirty="0"/>
              <a:t>: casella di testo </a:t>
            </a:r>
          </a:p>
          <a:p>
            <a:r>
              <a:rPr lang="it-IT" dirty="0"/>
              <a:t>(output: dati e avvisi)</a:t>
            </a:r>
          </a:p>
          <a:p>
            <a:endParaRPr lang="it-IT" dirty="0"/>
          </a:p>
          <a:p>
            <a:r>
              <a:rPr lang="it-IT" dirty="0">
                <a:solidFill>
                  <a:srgbClr val="002060"/>
                </a:solidFill>
              </a:rPr>
              <a:t>Blu</a:t>
            </a:r>
            <a:r>
              <a:rPr lang="it-IT" dirty="0"/>
              <a:t>: casella di testo </a:t>
            </a:r>
          </a:p>
          <a:p>
            <a:r>
              <a:rPr lang="it-IT" dirty="0"/>
              <a:t>(input: ampiezza e frequenza)</a:t>
            </a:r>
          </a:p>
          <a:p>
            <a:endParaRPr lang="it-IT" dirty="0"/>
          </a:p>
          <a:p>
            <a:r>
              <a:rPr lang="it-IT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Celeste</a:t>
            </a:r>
            <a:r>
              <a:rPr lang="it-IT" dirty="0"/>
              <a:t>: bottoni</a:t>
            </a:r>
          </a:p>
          <a:p>
            <a:endParaRPr lang="it-IT" dirty="0"/>
          </a:p>
          <a:p>
            <a:r>
              <a:rPr lang="it-IT" dirty="0">
                <a:solidFill>
                  <a:srgbClr val="7030A0"/>
                </a:solidFill>
              </a:rPr>
              <a:t>Viola</a:t>
            </a:r>
            <a:r>
              <a:rPr lang="it-IT" dirty="0"/>
              <a:t>: menù a tendina</a:t>
            </a:r>
          </a:p>
          <a:p>
            <a:endParaRPr lang="it-IT" dirty="0"/>
          </a:p>
          <a:p>
            <a:r>
              <a:rPr lang="it-IT" dirty="0">
                <a:solidFill>
                  <a:srgbClr val="00B050"/>
                </a:solidFill>
              </a:rPr>
              <a:t>Verde</a:t>
            </a:r>
            <a:r>
              <a:rPr lang="it-IT" dirty="0"/>
              <a:t>: widget di stato </a:t>
            </a:r>
          </a:p>
          <a:p>
            <a:r>
              <a:rPr lang="it-IT" dirty="0"/>
              <a:t>(batteria e barra di progresso)</a:t>
            </a:r>
          </a:p>
          <a:p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863424-2D32-44D9-1099-AC26D6D1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9"/>
            <a:ext cx="9819375" cy="676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1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3F4BDD-5C21-C836-CD49-24761FD33C3E}"/>
              </a:ext>
            </a:extLst>
          </p:cNvPr>
          <p:cNvSpPr txBox="1"/>
          <p:nvPr/>
        </p:nvSpPr>
        <p:spPr>
          <a:xfrm>
            <a:off x="9764511" y="458955"/>
            <a:ext cx="22107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Legenda</a:t>
            </a:r>
            <a:endParaRPr lang="it-I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it-IT" dirty="0"/>
          </a:p>
          <a:p>
            <a:r>
              <a:rPr lang="it-IT" sz="1600" dirty="0">
                <a:solidFill>
                  <a:srgbClr val="FFFF00"/>
                </a:solidFill>
              </a:rPr>
              <a:t>Giallo</a:t>
            </a:r>
            <a:r>
              <a:rPr lang="it-IT" sz="1600" dirty="0"/>
              <a:t>: grafici</a:t>
            </a:r>
          </a:p>
          <a:p>
            <a:endParaRPr lang="it-IT" sz="1600" dirty="0"/>
          </a:p>
          <a:p>
            <a:r>
              <a:rPr lang="it-IT" sz="1600" dirty="0">
                <a:solidFill>
                  <a:srgbClr val="FF0000"/>
                </a:solidFill>
              </a:rPr>
              <a:t>Rosso</a:t>
            </a:r>
            <a:r>
              <a:rPr lang="it-IT" sz="1600" dirty="0"/>
              <a:t>: casella di testo </a:t>
            </a:r>
          </a:p>
          <a:p>
            <a:r>
              <a:rPr lang="it-IT" sz="1600" dirty="0"/>
              <a:t>(output: dati e avvisi)</a:t>
            </a:r>
          </a:p>
          <a:p>
            <a:endParaRPr lang="it-IT" sz="1600" dirty="0"/>
          </a:p>
          <a:p>
            <a:r>
              <a:rPr lang="it-IT" sz="1600" dirty="0">
                <a:solidFill>
                  <a:srgbClr val="002060"/>
                </a:solidFill>
              </a:rPr>
              <a:t>Blu</a:t>
            </a:r>
            <a:r>
              <a:rPr lang="it-IT" sz="1600" dirty="0"/>
              <a:t>: casella di testo </a:t>
            </a:r>
          </a:p>
          <a:p>
            <a:r>
              <a:rPr lang="it-IT" sz="1600" dirty="0"/>
              <a:t>(input: ampiezza e frequenza)</a:t>
            </a:r>
          </a:p>
          <a:p>
            <a:endParaRPr lang="it-IT" sz="1600" dirty="0"/>
          </a:p>
          <a:p>
            <a:r>
              <a:rPr lang="it-IT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Celeste</a:t>
            </a:r>
            <a:r>
              <a:rPr lang="it-IT" sz="1600" dirty="0"/>
              <a:t>: bottoni</a:t>
            </a:r>
          </a:p>
          <a:p>
            <a:endParaRPr lang="it-IT" sz="1600" dirty="0"/>
          </a:p>
          <a:p>
            <a:r>
              <a:rPr lang="it-IT" sz="1600" dirty="0">
                <a:solidFill>
                  <a:srgbClr val="7030A0"/>
                </a:solidFill>
              </a:rPr>
              <a:t>Viola</a:t>
            </a:r>
            <a:r>
              <a:rPr lang="it-IT" sz="1600" dirty="0"/>
              <a:t>: menù a tendina</a:t>
            </a:r>
          </a:p>
          <a:p>
            <a:endParaRPr lang="it-IT" sz="1600" dirty="0"/>
          </a:p>
          <a:p>
            <a:r>
              <a:rPr lang="it-IT" sz="1600" dirty="0">
                <a:solidFill>
                  <a:srgbClr val="00B050"/>
                </a:solidFill>
              </a:rPr>
              <a:t>Verde</a:t>
            </a:r>
            <a:r>
              <a:rPr lang="it-IT" sz="1600" dirty="0"/>
              <a:t>: widget di stato </a:t>
            </a:r>
          </a:p>
          <a:p>
            <a:r>
              <a:rPr lang="it-IT" sz="1600" dirty="0"/>
              <a:t>(batteria e barra di progresso)</a:t>
            </a:r>
          </a:p>
          <a:p>
            <a:endParaRPr lang="it-IT" sz="1600" dirty="0"/>
          </a:p>
          <a:p>
            <a:r>
              <a:rPr lang="it-IT" sz="1600" b="1" dirty="0"/>
              <a:t>Start: stampa valori di frequenza e ampiezza</a:t>
            </a:r>
          </a:p>
          <a:p>
            <a:endParaRPr lang="it-IT" dirty="0"/>
          </a:p>
        </p:txBody>
      </p:sp>
      <p:pic>
        <p:nvPicPr>
          <p:cNvPr id="4" name="Immagine 3" descr="Immagine che contiene schermata, testo, Rettangolo, Policromia&#10;&#10;Descrizione generata automaticamente">
            <a:extLst>
              <a:ext uri="{FF2B5EF4-FFF2-40B4-BE49-F238E27FC236}">
                <a16:creationId xmlns:a16="http://schemas.microsoft.com/office/drawing/2014/main" id="{160E09D0-420E-2FB1-F3DD-439D8AE67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834"/>
            <a:ext cx="9555480" cy="658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9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3F4BDD-5C21-C836-CD49-24761FD33C3E}"/>
              </a:ext>
            </a:extLst>
          </p:cNvPr>
          <p:cNvSpPr txBox="1"/>
          <p:nvPr/>
        </p:nvSpPr>
        <p:spPr>
          <a:xfrm>
            <a:off x="9764511" y="458955"/>
            <a:ext cx="22107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Per disegnare il grafico inserire nel box di testo </a:t>
            </a:r>
            <a:r>
              <a:rPr lang="it-IT" sz="1600" b="1" dirty="0" err="1"/>
              <a:t>Amplitude</a:t>
            </a:r>
            <a:r>
              <a:rPr lang="it-IT" sz="1600" b="1" dirty="0"/>
              <a:t> il valore di impedenza da rappresentare (Box momentaneo) e poi premere Start.</a:t>
            </a:r>
          </a:p>
          <a:p>
            <a:endParaRPr lang="it-IT" sz="1600" b="1" dirty="0"/>
          </a:p>
          <a:p>
            <a:r>
              <a:rPr lang="it-IT" sz="1600" b="1" dirty="0"/>
              <a:t>Per adesso abbiamo scelto di rappresentare solo numeri reali non negativi.</a:t>
            </a:r>
            <a:endParaRPr lang="it-IT" sz="1600" b="1" u="sng" dirty="0"/>
          </a:p>
          <a:p>
            <a:endParaRPr lang="it-IT" sz="1600" b="1" u="sng" dirty="0"/>
          </a:p>
          <a:p>
            <a:r>
              <a:rPr lang="it-IT" sz="1600" b="1" dirty="0"/>
              <a:t>Abbiamo apportato le correzioni suggerite nella task precedente: selezionando </a:t>
            </a:r>
            <a:r>
              <a:rPr lang="it-IT" sz="1600" b="1" dirty="0" err="1"/>
              <a:t>sweep</a:t>
            </a:r>
            <a:r>
              <a:rPr lang="it-IT" sz="1600" b="1" dirty="0"/>
              <a:t> nel menù a tendina compaiono i campi necessari.</a:t>
            </a:r>
          </a:p>
          <a:p>
            <a:endParaRPr lang="it-IT" dirty="0"/>
          </a:p>
        </p:txBody>
      </p:sp>
      <p:pic>
        <p:nvPicPr>
          <p:cNvPr id="4" name="Immagine 3" descr="Immagine che contiene testo, schermata, diagramma, Parallelo">
            <a:extLst>
              <a:ext uri="{FF2B5EF4-FFF2-40B4-BE49-F238E27FC236}">
                <a16:creationId xmlns:a16="http://schemas.microsoft.com/office/drawing/2014/main" id="{626A5C3C-91CF-CA85-99D5-4F37112B8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073"/>
            <a:ext cx="9674352" cy="544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9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3F4BDD-5C21-C836-CD49-24761FD33C3E}"/>
              </a:ext>
            </a:extLst>
          </p:cNvPr>
          <p:cNvSpPr txBox="1"/>
          <p:nvPr/>
        </p:nvSpPr>
        <p:spPr>
          <a:xfrm>
            <a:off x="9704832" y="1034254"/>
            <a:ext cx="22107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Selezionando Bluetooth tra le opzioni del menù a tendina Connection Mode, inizia la scansione di 10 secondi e al termine compare la lista di dispositivi disponibili.</a:t>
            </a:r>
          </a:p>
          <a:p>
            <a:endParaRPr lang="it-IT" dirty="0"/>
          </a:p>
          <a:p>
            <a:r>
              <a:rPr lang="it-IT" dirty="0"/>
              <a:t>Per ripetere la ricerca, selezionare nuovamente Bluetooth nel menù a tendina.</a:t>
            </a:r>
          </a:p>
        </p:txBody>
      </p:sp>
      <p:pic>
        <p:nvPicPr>
          <p:cNvPr id="3" name="Immagine 2" descr="Immagine che contiene testo, schermata, diagramma, software&#10;&#10;Descrizione generata automaticamente">
            <a:extLst>
              <a:ext uri="{FF2B5EF4-FFF2-40B4-BE49-F238E27FC236}">
                <a16:creationId xmlns:a16="http://schemas.microsoft.com/office/drawing/2014/main" id="{0497D284-E56C-864C-95FC-33A8A3C7E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6928"/>
            <a:ext cx="9704832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diagramma, schermo&#10;&#10;Descrizione generata automaticamente">
            <a:extLst>
              <a:ext uri="{FF2B5EF4-FFF2-40B4-BE49-F238E27FC236}">
                <a16:creationId xmlns:a16="http://schemas.microsoft.com/office/drawing/2014/main" id="{F39977A0-1DA9-B434-5A64-B453C3350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4" y="643467"/>
            <a:ext cx="10462091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A0B8076-4C12-440E-1146-06CBA4CB01F9}"/>
              </a:ext>
            </a:extLst>
          </p:cNvPr>
          <p:cNvSpPr txBox="1"/>
          <p:nvPr/>
        </p:nvSpPr>
        <p:spPr>
          <a:xfrm>
            <a:off x="4714380" y="58692"/>
            <a:ext cx="2763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/>
              <a:t>Applicazione</a:t>
            </a:r>
          </a:p>
        </p:txBody>
      </p:sp>
    </p:spTree>
    <p:extLst>
      <p:ext uri="{BB962C8B-B14F-4D97-AF65-F5344CB8AC3E}">
        <p14:creationId xmlns:p14="http://schemas.microsoft.com/office/powerpoint/2010/main" val="329336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B525F3-4AFD-C821-B9F7-19F08CA3135B}"/>
              </a:ext>
            </a:extLst>
          </p:cNvPr>
          <p:cNvSpPr txBox="1"/>
          <p:nvPr/>
        </p:nvSpPr>
        <p:spPr>
          <a:xfrm>
            <a:off x="4908505" y="1327177"/>
            <a:ext cx="5391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Funzionamento con GATT Server</a:t>
            </a:r>
          </a:p>
        </p:txBody>
      </p:sp>
      <p:pic>
        <p:nvPicPr>
          <p:cNvPr id="1026" name="Picture 2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75987D32-18F8-8823-1957-837CE00D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98" y="543151"/>
            <a:ext cx="2359554" cy="594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0" name="CasellaDiTesto 1">
            <a:extLst>
              <a:ext uri="{FF2B5EF4-FFF2-40B4-BE49-F238E27FC236}">
                <a16:creationId xmlns:a16="http://schemas.microsoft.com/office/drawing/2014/main" id="{C65B1FCE-7462-8399-3FCC-E578767F7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6561727"/>
              </p:ext>
            </p:extLst>
          </p:nvPr>
        </p:nvGraphicFramePr>
        <p:xfrm>
          <a:off x="2863780" y="1990839"/>
          <a:ext cx="9006422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87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B525F3-4AFD-C821-B9F7-19F08CA3135B}"/>
              </a:ext>
            </a:extLst>
          </p:cNvPr>
          <p:cNvSpPr txBox="1"/>
          <p:nvPr/>
        </p:nvSpPr>
        <p:spPr>
          <a:xfrm>
            <a:off x="3457863" y="1362248"/>
            <a:ext cx="5391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Funzionamento con ESP32</a:t>
            </a:r>
          </a:p>
        </p:txBody>
      </p:sp>
      <p:graphicFrame>
        <p:nvGraphicFramePr>
          <p:cNvPr id="1030" name="CasellaDiTesto 1">
            <a:extLst>
              <a:ext uri="{FF2B5EF4-FFF2-40B4-BE49-F238E27FC236}">
                <a16:creationId xmlns:a16="http://schemas.microsoft.com/office/drawing/2014/main" id="{C65B1FCE-7462-8399-3FCC-E578767F7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187361"/>
              </p:ext>
            </p:extLst>
          </p:nvPr>
        </p:nvGraphicFramePr>
        <p:xfrm>
          <a:off x="1592789" y="2015593"/>
          <a:ext cx="9006422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87990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1EF22B143FE2C47B2901B7D264559B6" ma:contentTypeVersion="12" ma:contentTypeDescription="Creare un nuovo documento." ma:contentTypeScope="" ma:versionID="abadd4bef68153cb8246403b390cf4bd">
  <xsd:schema xmlns:xsd="http://www.w3.org/2001/XMLSchema" xmlns:xs="http://www.w3.org/2001/XMLSchema" xmlns:p="http://schemas.microsoft.com/office/2006/metadata/properties" xmlns:ns2="54ceff77-74ae-4988-b04a-924b68f3804e" xmlns:ns3="fdaba1e1-b443-4d78-96a1-39cb1ac005e8" targetNamespace="http://schemas.microsoft.com/office/2006/metadata/properties" ma:root="true" ma:fieldsID="32d548014ac089e22109835a3d92db29" ns2:_="" ns3:_="">
    <xsd:import namespace="54ceff77-74ae-4988-b04a-924b68f3804e"/>
    <xsd:import namespace="fdaba1e1-b443-4d78-96a1-39cb1ac005e8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ceff77-74ae-4988-b04a-924b68f3804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Tag immagine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aba1e1-b443-4d78-96a1-39cb1ac005e8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8e9857d-8af5-4119-8694-75af01744b44}" ma:internalName="TaxCatchAll" ma:showField="CatchAllData" ma:web="fdaba1e1-b443-4d78-96a1-39cb1ac00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ceff77-74ae-4988-b04a-924b68f3804e">
      <Terms xmlns="http://schemas.microsoft.com/office/infopath/2007/PartnerControls"/>
    </lcf76f155ced4ddcb4097134ff3c332f>
    <TaxCatchAll xmlns="fdaba1e1-b443-4d78-96a1-39cb1ac005e8" xsi:nil="true"/>
  </documentManagement>
</p:properties>
</file>

<file path=customXml/itemProps1.xml><?xml version="1.0" encoding="utf-8"?>
<ds:datastoreItem xmlns:ds="http://schemas.openxmlformats.org/officeDocument/2006/customXml" ds:itemID="{C1E18345-7BBD-4546-A91D-A956E68C2D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ceff77-74ae-4988-b04a-924b68f3804e"/>
    <ds:schemaRef ds:uri="fdaba1e1-b443-4d78-96a1-39cb1ac005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BAC025-4EBE-4DBE-9DD8-6201D1D659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D554C8-37E9-4258-81BE-2900036FC799}">
  <ds:schemaRefs>
    <ds:schemaRef ds:uri="http://schemas.microsoft.com/office/2006/metadata/properties"/>
    <ds:schemaRef ds:uri="http://schemas.microsoft.com/office/infopath/2007/PartnerControls"/>
    <ds:schemaRef ds:uri="54ceff77-74ae-4988-b04a-924b68f3804e"/>
    <ds:schemaRef ds:uri="fdaba1e1-b443-4d78-96a1-39cb1ac005e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350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FLAVIO SOLDATINI</dc:creator>
  <cp:lastModifiedBy>ANDREA TITO</cp:lastModifiedBy>
  <cp:revision>14</cp:revision>
  <dcterms:created xsi:type="dcterms:W3CDTF">2024-09-28T10:10:28Z</dcterms:created>
  <dcterms:modified xsi:type="dcterms:W3CDTF">2026-04-28T18:51:26Z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0x01010021EF22B143FE2C47B2901B7D264559B6</vt:lpwstr>
  </property>
</Properties>
</file>